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1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84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POPcoins per ₹100 spent</c:v>
                </c:pt>
              </c:strCache>
            </c:strRef>
          </c:tx>
          <c:spPr>
            <a:solidFill>
              <a:srgbClr val="FF7A2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Offline (base)</c:v>
                </c:pt>
                <c:pt idx="1">
                  <c:v>UPI via POP app</c:v>
                </c:pt>
                <c:pt idx="2">
                  <c:v>Online / e-commerce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A3-4B0E-9BB8-82AADA22A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3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B7B5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 UPI — flat 2%</c:v>
                </c:pt>
              </c:strCache>
            </c:strRef>
          </c:tx>
          <c:spPr>
            <a:ln w="31750" cap="flat">
              <a:solidFill>
                <a:srgbClr val="FF7A2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7A29"/>
              </a:solidFill>
              <a:ln w="9525" cap="flat">
                <a:solidFill>
                  <a:srgbClr val="FF7A29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Txn 1</c:v>
                </c:pt>
                <c:pt idx="1">
                  <c:v>Txn 2</c:v>
                </c:pt>
                <c:pt idx="2">
                  <c:v>Txn 3</c:v>
                </c:pt>
                <c:pt idx="3">
                  <c:v>Txn 4</c:v>
                </c:pt>
                <c:pt idx="4">
                  <c:v>Txn 5</c:v>
                </c:pt>
                <c:pt idx="5">
                  <c:v>Txn 6</c:v>
                </c:pt>
                <c:pt idx="6">
                  <c:v>Txn 7</c:v>
                </c:pt>
                <c:pt idx="7">
                  <c:v>Txn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75-4CB5-B8ED-DEFD8810B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Typical gamified cashback apps</c:v>
                </c:pt>
              </c:strCache>
            </c:strRef>
          </c:tx>
          <c:spPr>
            <a:ln w="31750" cap="flat">
              <a:solidFill>
                <a:srgbClr val="6B6A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6A64"/>
              </a:solidFill>
              <a:ln w="9525" cap="flat">
                <a:solidFill>
                  <a:srgbClr val="6B6A6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Txn 1</c:v>
                </c:pt>
                <c:pt idx="1">
                  <c:v>Txn 2</c:v>
                </c:pt>
                <c:pt idx="2">
                  <c:v>Txn 3</c:v>
                </c:pt>
                <c:pt idx="3">
                  <c:v>Txn 4</c:v>
                </c:pt>
                <c:pt idx="4">
                  <c:v>Txn 5</c:v>
                </c:pt>
                <c:pt idx="5">
                  <c:v>Txn 6</c:v>
                </c:pt>
                <c:pt idx="6">
                  <c:v>Txn 7</c:v>
                </c:pt>
                <c:pt idx="7">
                  <c:v>Txn 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75-4CB5-B8ED-DEFD8810BD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3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8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888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A8880"/>
                    </a:solidFill>
                    <a:latin typeface="Arial"/>
                  </a:rPr>
                  <a:t>Reward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3A3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7B5A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 (illustrative, % of downloads)</c:v>
                </c:pt>
              </c:strCache>
            </c:strRef>
          </c:tx>
          <c:spPr>
            <a:solidFill>
              <a:srgbClr val="FF7A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Redeemed coins</c:v>
                </c:pt>
                <c:pt idx="1">
                  <c:v>Opened POPshop</c:v>
                </c:pt>
                <c:pt idx="2">
                  <c:v>Earned POPcoins</c:v>
                </c:pt>
                <c:pt idx="3">
                  <c:v>Made first payment</c:v>
                </c:pt>
                <c:pt idx="4">
                  <c:v>Linked bank account</c:v>
                </c:pt>
                <c:pt idx="5">
                  <c:v>Downloaded app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35</c:v>
                </c:pt>
                <c:pt idx="2">
                  <c:v>66</c:v>
                </c:pt>
                <c:pt idx="3">
                  <c:v>66</c:v>
                </c:pt>
                <c:pt idx="4">
                  <c:v>70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40-434B-87DD-23CEED7254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3A3A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7B5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FF7A2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Onboarding
completion</c:v>
                </c:pt>
                <c:pt idx="1">
                  <c:v>Coins redeemed
&lt;30 days</c:v>
                </c:pt>
                <c:pt idx="2">
                  <c:v>POPshop / MAU
ratio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30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B-44AF-A765-B62E92946C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90-day target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Onboarding
completion</c:v>
                </c:pt>
                <c:pt idx="1">
                  <c:v>Coins redeemed
&lt;30 days</c:v>
                </c:pt>
                <c:pt idx="2">
                  <c:v>POPshop / MAU
ratio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</c:v>
                </c:pt>
                <c:pt idx="1">
                  <c:v>55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8B-44AF-A765-B62E92946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3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7B5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7B5A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 UPI</c:v>
                </c:pt>
              </c:strCache>
            </c:strRef>
          </c:tx>
          <c:spPr>
            <a:solidFill>
              <a:srgbClr val="FF7A29">
                <a:alpha val="30000"/>
              </a:srgbClr>
            </a:solidFill>
            <a:ln w="25400" cap="flat">
              <a:solidFill>
                <a:srgbClr val="FF7A29"/>
              </a:solidFill>
              <a:prstDash val="solid"/>
              <a:round/>
            </a:ln>
            <a:effectLst/>
          </c:spPr>
          <c:cat>
            <c:strRef>
              <c:f>Sheet1!$A$2:$A$7</c:f>
              <c:strCache>
                <c:ptCount val="6"/>
                <c:pt idx="0">
                  <c:v>Business
model</c:v>
                </c:pt>
                <c:pt idx="1">
                  <c:v>Onboarding
UX</c:v>
                </c:pt>
                <c:pt idx="2">
                  <c:v>Payment
UX</c:v>
                </c:pt>
                <c:pt idx="3">
                  <c:v>Shopping
UX</c:v>
                </c:pt>
                <c:pt idx="4">
                  <c:v>Redemption
loop</c:v>
                </c:pt>
                <c:pt idx="5">
                  <c:v>Retention
mechanics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7</c:v>
                </c:pt>
                <c:pt idx="2">
                  <c:v>9</c:v>
                </c:pt>
                <c:pt idx="3">
                  <c:v>6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59-44C9-8234-E9C9035B95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7B5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A88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69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dia.entrepreneur.com/news-and-trends/fintech-startup-pop-raises-usd-30-mn-from-razorpay/49342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ampaignindia.in/article/pop-launches-first-brand-campaign-around-upi-rewards/4hs77d7yx0gbxrs3xzrbd9gmxs" TargetMode="External"/><Relationship Id="rId4" Type="http://schemas.openxmlformats.org/officeDocument/2006/relationships/hyperlink" Target="https://inc42.com/startups/can-pops-upicommerce-playbook-dim-cred-paytms-dominance-in-the-upi-verse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es.bank.in/personal-banking/yes-individual/cards/credit-cards/pop-club-credit-car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tnoted.com/company/pop-upi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c42.com/buzz/ecommerce-enabler-pop-bags-2-4-mn-to-roll-out-upi-offerings-for-d2c-consumer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nc42.com/buzz/ecommerce-enabler-pop-bags-2-4-mn-to-roll-out-upi-offerings-for-d2c-consumers/" TargetMode="External"/><Relationship Id="rId4" Type="http://schemas.openxmlformats.org/officeDocument/2006/relationships/hyperlink" Target="https://netnoted.com/company/pop-upi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etnoted.com/company/pop-upi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c42.com/buzz/ecommerce-enabler-pop-bags-2-4-mn-to-roll-out-upi-offerings-for-d2c-consumer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B1B1B"/>
          </a:solidFill>
          <a:ln w="19050">
            <a:solidFill>
              <a:srgbClr val="FF7A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ln w="9525">
            <a:solidFill>
              <a:srgbClr val="FF7A2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3136392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 UPI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Rewiring the </a:t>
            </a:r>
            <a:r>
              <a:rPr lang="en-US" sz="2800" i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Rewards Equation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teardown of India's rewards-first payments app - onboarding, payment flow, POPcoins mechanics, and the revenue model behind the 2% back.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737360"/>
            <a:ext cx="2926080" cy="292608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3721608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EXECUTIVE SUMMARY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TL;DR: a differentiated reward model, redemption is the gap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gives 2% back in POPcoins on every UPI transaction, but earning and redeeming live in two disconnected flows - payment is instant, spending isn't.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154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 appears sound and differentiated, based on public information - brand-funded rewards, not user-funded. The likelier gap is in the product: coins are earned automatically but redemption requires a conscious re-engagement many users may never make.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389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bets close that gap - instant checkout-level redemption, and smart nudges for dormant balances - each tied to a specific funnel breakpoint and a measurable 90-day KPI.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715000"/>
            <a:ext cx="1088136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follows: business model → personas → onboarding &amp; payment flow → the POPcoins mechanic → where the funnel breaks → two redesign bets → a 90-day plan → competitive position → verdict.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5486400"/>
            <a:ext cx="2377440" cy="237744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3282696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BUSINESS MODEL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POP profits without taxing the user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492" y="145846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492" y="145846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002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the user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9514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gives 2% back in POPcoins on every UPI transaction - but doesn't fund it from its own margin.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90088"/>
            <a:ext cx="402336" cy="40233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026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Brand-funded rewards (B2B2C)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3192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 partners pay POP for acquisition and retention access to its user base.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402336" cy="40233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playbook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343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Flipkart </a:t>
            </a:r>
            <a:r>
              <a:rPr lang="en-US" sz="1150" dirty="0" err="1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Supercoins</a:t>
            </a: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 model POP's founder, ex-Flipkart, built and scaled before.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038344"/>
            <a:ext cx="402336" cy="402336"/>
          </a:xfrm>
          <a:prstGeom prst="ellipse">
            <a:avLst/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scale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3675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D2C brand partners, 1M+ monthly active transactors, 6L+ daily UPI transactions.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146304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146304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37960" y="1783080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766560" y="18562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 pay POP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167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&amp; retention access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2496312"/>
            <a:ext cx="0" cy="256032"/>
          </a:xfrm>
          <a:prstGeom prst="line">
            <a:avLst/>
          </a:prstGeom>
          <a:noFill/>
          <a:ln w="15875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37960" y="2752344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766560" y="2825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funds POPcoins pool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3136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every UPI transaction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52560" y="3465576"/>
            <a:ext cx="0" cy="256032"/>
          </a:xfrm>
          <a:prstGeom prst="line">
            <a:avLst/>
          </a:prstGeom>
          <a:noFill/>
          <a:ln w="15875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37960" y="3721608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766560" y="3794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earns POPcoins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4105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to the user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52560" y="4434840"/>
            <a:ext cx="0" cy="256032"/>
          </a:xfrm>
          <a:prstGeom prst="line">
            <a:avLst/>
          </a:prstGeom>
          <a:noFill/>
          <a:ln w="15875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37960" y="4690872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766560" y="47640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redeems at brands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POPcoin = ₹1 discount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52560" y="5404104"/>
            <a:ext cx="0" cy="256032"/>
          </a:xfrm>
          <a:prstGeom prst="line">
            <a:avLst/>
          </a:prstGeom>
          <a:noFill/>
          <a:ln w="15875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537960" y="5660136"/>
            <a:ext cx="5029200" cy="713232"/>
          </a:xfrm>
          <a:prstGeom prst="roundRect">
            <a:avLst>
              <a:gd name="adj" fmla="val 11538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766560" y="5733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gains repeat customer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0" y="6044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537960" y="6501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cycle repeats on the next purchase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108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Entrepreneur India</a:t>
            </a: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Inc42</a:t>
            </a: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Campaign India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303520"/>
            <a:ext cx="2743200" cy="274320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4306824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THE CREDIT CARD LAYER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revenue engine: the RuPay card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929384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18516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with YES Bank on </a:t>
            </a:r>
            <a:r>
              <a:rPr lang="en-US" sz="1100" dirty="0" err="1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RuPay</a:t>
            </a: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one of the only networks with native UPI-on-credit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5100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joining fee; ₹399 + GST annual fee, waived above ₹1.5L in annual spend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1683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benefits worth ~₹5,000 across Blinkit, Cleartrip, Zomato Gold Mini, PharmEasy Plus, Rapido &amp; Cult Sport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04488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82676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POPcoins redeemable at 500+ brands via the POP Club app - up to ₹1 per coin on select redemptions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62856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4851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YES Bank credit cardholders are not eligible - acquisition-only, not a cross-sell to its own 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50876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508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766560" y="1874520"/>
          <a:ext cx="48463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6766560" y="4279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via the POP app earns a base 2 + bonus 5 POPcoins/₹100 - net 7, still below the 10 earned on online shopping.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766560" y="4846320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49440" y="4974336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0" y="49743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52669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card reveals a second monetization layer beyond brand-funded UPI rewards - interchange fees and revolving credit interest (47.88% APR disclosed) likely fund part of the economics too, not brand partnerships alone.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YES Bank official product page</a:t>
            </a: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Kiwi (gokiwi.in) card review, Apr 2026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PERSONAS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actually using POP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99616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7EA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9961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383280" cy="4251960"/>
          </a:xfrm>
          <a:prstGeom prst="roundRect">
            <a:avLst>
              <a:gd name="adj" fmla="val 2703"/>
            </a:avLst>
          </a:prstGeom>
          <a:solidFill>
            <a:srgbClr val="1B1B1B"/>
          </a:solidFill>
          <a:ln w="9525">
            <a:solidFill>
              <a:srgbClr val="FF7A29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148840"/>
            <a:ext cx="1005840" cy="100584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101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24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913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routine payments to earn without friction.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6451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8992" y="4599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bills, food &amp; transport via UPI daily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51023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8992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opens POPshop unless reminded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55595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55138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speed over rewards exploration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1828800"/>
            <a:ext cx="3383280" cy="4251960"/>
          </a:xfrm>
          <a:prstGeom prst="roundRect">
            <a:avLst>
              <a:gd name="adj" fmla="val 2703"/>
            </a:avLst>
          </a:prstGeom>
          <a:solidFill>
            <a:srgbClr val="1B1B1B"/>
          </a:solidFill>
          <a:ln w="9525">
            <a:solidFill>
              <a:srgbClr val="FF7A29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2148840"/>
            <a:ext cx="1005840" cy="100584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04688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33101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27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Deal-seeker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3913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POPcoin and redemption window.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90288" y="46451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54880" y="4599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POPcoins balance weekly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90288" y="51023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Redeems regularly across partner brands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90288" y="55595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54880" y="55138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Price-sensitive, compares before spending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1856" y="1828800"/>
            <a:ext cx="3383280" cy="4251960"/>
          </a:xfrm>
          <a:prstGeom prst="roundRect">
            <a:avLst>
              <a:gd name="adj" fmla="val 2703"/>
            </a:avLst>
          </a:prstGeom>
          <a:solidFill>
            <a:srgbClr val="1B1B1B"/>
          </a:solidFill>
          <a:ln w="9525">
            <a:solidFill>
              <a:srgbClr val="FF7A29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0576" y="2148840"/>
            <a:ext cx="1005840" cy="1005840"/>
          </a:xfrm>
          <a:prstGeom prst="ellipse">
            <a:avLst/>
          </a:prstGeom>
          <a:solidFill>
            <a:srgbClr val="232323"/>
          </a:solidFill>
          <a:ln w="15875">
            <a:solidFill>
              <a:srgbClr val="FF7A2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80576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8174736" y="33101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Meera, 31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174736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266176" y="3913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via POP casually; coins pile up unused.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66176" y="46451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30768" y="4599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POP only for select payments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66176" y="51023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30768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POPshop rarely, if at all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66176" y="5559552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430768" y="55138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balance - a key churn signal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1081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archetypes synthesized from publicly available product context - not based on POP user research.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1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275E17F-113B-645D-8D65-40E414463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718" y="2085532"/>
            <a:ext cx="1129556" cy="116058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A5BF75B-3D3E-EEDC-7B2F-A3EC3EF7F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104" y="2116301"/>
            <a:ext cx="1187285" cy="109324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78D37B1-381A-C3F4-080F-A2425B94D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5288" y="2098139"/>
            <a:ext cx="1190792" cy="11845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645920"/>
            <a:ext cx="2926080" cy="292608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ONBOARDING FLOW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download to first POPcoin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965960" cy="1463040"/>
          </a:xfrm>
          <a:prstGeom prst="roundRect">
            <a:avLst>
              <a:gd name="adj" fmla="val 562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449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sign up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57530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verification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2788920"/>
            <a:ext cx="1965960" cy="1463040"/>
          </a:xfrm>
          <a:prstGeom prst="roundRect">
            <a:avLst>
              <a:gd name="adj" fmla="val 5625"/>
            </a:avLst>
          </a:prstGeom>
          <a:solidFill>
            <a:srgbClr val="1B1B1B"/>
          </a:solidFill>
          <a:ln w="1905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944368" y="30449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bank account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57530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UPI ID &amp; set PIN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5204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2788920"/>
            <a:ext cx="1965960" cy="1463040"/>
          </a:xfrm>
          <a:prstGeom prst="roundRect">
            <a:avLst>
              <a:gd name="adj" fmla="val 562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138928" y="30449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first payment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57530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or pay a contact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35204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2788920"/>
            <a:ext cx="1965960" cy="1463040"/>
          </a:xfrm>
          <a:prstGeom prst="roundRect">
            <a:avLst>
              <a:gd name="adj" fmla="val 562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33488" y="30449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first POPcoin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33488" y="357530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credited instantly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89720" y="35204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18320" y="2788920"/>
            <a:ext cx="1965960" cy="1463040"/>
          </a:xfrm>
          <a:prstGeom prst="roundRect">
            <a:avLst>
              <a:gd name="adj" fmla="val 562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528048" y="30449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POPshop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357530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to redeem coins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08376" y="4370832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08376" y="437083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2496312" y="4754880"/>
            <a:ext cx="545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bank linking may be a major onboarding friction point.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108960" cy="310896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4014216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PAYMENT &amp; SHOP FLOW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tapping pay to redeeming coins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92640" y="163677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0" y="163677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55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" y="213055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/ select contact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5877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merchant or payee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24917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196596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19856" y="213055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 &amp; confirm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19856" y="25877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UPI PIN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24917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196596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71616" y="213055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completes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71616" y="25877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transfer confirmation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66760" y="249174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196596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723376" y="213055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POPcoins credited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23376" y="258775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transaction value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06940" y="3017520"/>
            <a:ext cx="0" cy="50292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944100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to POPshop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209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68096" y="368503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POPshop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414223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200+ D2C brands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63240" y="404622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91840" y="3520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3419856" y="368503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419856" y="414223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beauty, electronics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404622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43600" y="3520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071616" y="368503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POPcoins at checkout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071616" y="414223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POPcoin = ₹1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66760" y="4046220"/>
            <a:ext cx="22860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95360" y="3520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47110D"/>
          </a:solidFill>
          <a:ln w="12700">
            <a:solidFill>
              <a:srgbClr val="FF7A29"/>
            </a:solidFill>
            <a:prstDash val="solid"/>
          </a:ln>
          <a:effectLst>
            <a:outerShdw blurRad="635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723376" y="3685032"/>
            <a:ext cx="2167128" cy="438912"/>
          </a:xfrm>
          <a:prstGeom prst="rect">
            <a:avLst/>
          </a:prstGeom>
          <a:solidFill>
            <a:srgbClr val="47110D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723376" y="4142232"/>
            <a:ext cx="2167128" cy="384048"/>
          </a:xfrm>
          <a:prstGeom prst="rect">
            <a:avLst/>
          </a:prstGeom>
          <a:solidFill>
            <a:srgbClr val="47110D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balance shown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" y="4718304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71830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0080" y="5111496"/>
            <a:ext cx="64008" cy="6400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68096" y="50337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POPcoins are earned instantly, but redemption sits in a separate app flow - a natural re-engagement gap.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" y="5495544"/>
            <a:ext cx="64008" cy="6400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68096" y="54178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that loop (e.g. instant checkout redemption) is the single biggest lever for improving retention.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8887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 UPI company profile</a:t>
            </a: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Inc42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394960"/>
            <a:ext cx="2560320" cy="256032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3721608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POPCOINS MECHANIC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flat 2% beats a gamified reward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1828800"/>
          <a:ext cx="59436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349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- reflects the typical variable/gamified reward ranges seen across UPI cashback apps, not exact competitor figures.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903720" y="150876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1508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903720" y="1920240"/>
            <a:ext cx="91440" cy="603504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59752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beats gamified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59752" y="21671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2% on every transaction builds trust, versus competitors' scratch-card or random cashback.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2944368"/>
            <a:ext cx="91440" cy="603504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59752" y="2898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POPcoin = ₹1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59752" y="31912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math friction - users instantly know what their reward is worth, no conversion needed.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0" y="3968496"/>
            <a:ext cx="91440" cy="603504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159752" y="3922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redemption utility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159752" y="42153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across 200+ D2C brands, avoiding the “points that rot in a wallet” problem.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03720" y="4992624"/>
            <a:ext cx="91440" cy="603504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159752" y="4946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195560" y="4956048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95560" y="495604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159752" y="52395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lives in a separate app flow - it requires re-engagement outside the payment moment.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60624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 UPI company profile</a:t>
            </a: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Inc42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5212080"/>
            <a:ext cx="2743200" cy="274320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3867912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09 - FUNNEL BREAKPOINTS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reward loop breaks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645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funnel - not measured POP data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48640" y="1965960"/>
          <a:ext cx="60350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2852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why do users who earn coins not click through to shop - passive habit, or discovery friction?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96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reasoned from typical UPI onboarding drop-off patterns, not sourced from POP's actual funnel.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903720" y="164592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6459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03720" y="2103120"/>
            <a:ext cx="91440" cy="65836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59752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Bank-linking drop-off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59752" y="23957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highest-friction onboarding step likely loses the most users before their first payment.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3108960"/>
            <a:ext cx="91440" cy="65836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159752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coin balances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159752" y="3401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earn POPcoins automatically but never open POPshop to actually redeem them.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0" y="4114800"/>
            <a:ext cx="91440" cy="65836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59752" y="4114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discovery friction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159752" y="44074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personalization across 200+ brands makes browsing feel undirected.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03720" y="5120640"/>
            <a:ext cx="91440" cy="658368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159752" y="5120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 mechanic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59752" y="54132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don't appear to nudge or prompt - so redemption keeps getting deferred.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737360"/>
            <a:ext cx="2926080" cy="292608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3136392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REDESIGN BETS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bets to close the redemption gap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1790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breaks between earning and redeeming. Both bets attack that same gap from different angles.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57276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B1B1B"/>
          </a:solidFill>
          <a:ln w="9525">
            <a:solidFill>
              <a:srgbClr val="FF7A29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134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313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3408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0B3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2340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2340864"/>
            <a:ext cx="521208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36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340864"/>
            <a:ext cx="52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36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Micro-Redemption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0906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36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fundamental earning → redemption friction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5584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and redemption live in two separate flows today - payment is instant, but spending coins means opening a whole other app section. Collapsing that gap into a single moment removes the exact re-engagement barrier the funnel exposes.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89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745736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4672585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POPcoins at partner D2C checkout - one-tap “Redeem now” on the payment success screen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512064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3675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2064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36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394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NPCI-compliant settlement reconciliation (refunds, failed debits, ledger) - pilot with partner merchants first.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5943600"/>
            <a:ext cx="46634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9298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66 → 35 drop from “Earned” to “Opened POPshop”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0574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B1B1B"/>
          </a:solidFill>
          <a:ln w="9525">
            <a:solidFill>
              <a:srgbClr val="FF7A29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3134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2313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340864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0B3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2340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698480" y="2340864"/>
            <a:ext cx="521208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7EA6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98480" y="2340864"/>
            <a:ext cx="52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Coin Nudges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30906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discovery once the core redemption path works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335584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balances happen because nothing pulls users back with urgency or relevance. A passive reward needs an active reason to be spent - timing and personalization create that reason.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389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0" y="4745736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48272" y="4672585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when accumulated coins cross a useful redemption threshold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5166360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48272" y="5093209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brand suggestions based on past shopping behavior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5586984"/>
            <a:ext cx="54864" cy="54864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48272" y="5513833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“coins waiting” digest for unredeemed balances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56248" y="5943600"/>
            <a:ext cx="46634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0" y="5934457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35 → 20 drop from “Opened” to “Redeemed”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2743200" cy="274320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4306824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1 - 90-DAY ROADMAP &amp; KPIs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measurement to redemption lift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0B3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828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1-30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1122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&amp; baseline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2670048"/>
            <a:ext cx="45720" cy="457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26197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onboarding drop-off &amp; POPshop click-through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" y="3035808"/>
            <a:ext cx="45720" cy="457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" y="29855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for every KPI below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2537460"/>
            <a:ext cx="27432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1691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98848" y="1828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21122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Bet 1 - Instant Micro-Redemption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98848" y="2670048"/>
            <a:ext cx="45720" cy="457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45152" y="26197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checkout-level redemption vs POPshop-only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98848" y="3035808"/>
            <a:ext cx="45720" cy="457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45152" y="29855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lift in 30-day coin redemption 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80960" y="2537460"/>
            <a:ext cx="274320" cy="0"/>
          </a:xfrm>
          <a:prstGeom prst="line">
            <a:avLst/>
          </a:prstGeom>
          <a:noFill/>
          <a:ln w="19050">
            <a:solidFill>
              <a:srgbClr val="FF7A2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5280" y="1691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56448" y="1828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211226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Bet 2 - Smart Coin Nudges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56448" y="2670048"/>
            <a:ext cx="45720" cy="457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02752" y="26197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threshold-based &amp; personalized nudges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56448" y="3035808"/>
            <a:ext cx="45720" cy="45720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29855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dormant-balance reduction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3602736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97480" y="36027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502920" y="3931920"/>
          <a:ext cx="7452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502920" y="6263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Target: Onboarding 70%→85% · Redemption &lt;30d 30%→55% · POPshop/MAU 35%→55%  (illustrative - not POP's published metrics)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229600" y="3794760"/>
            <a:ext cx="73152" cy="2468880"/>
          </a:xfrm>
          <a:prstGeom prst="rect">
            <a:avLst/>
          </a:prstGeom>
          <a:solidFill>
            <a:srgbClr val="FF7A29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458200" y="3794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here isn't more downloads - it's more users reaching the redemption moment.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458200" y="4389120"/>
            <a:ext cx="73152" cy="73152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595360" y="43251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859536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coin redemption rate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458200" y="4846320"/>
            <a:ext cx="73152" cy="73152"/>
          </a:xfrm>
          <a:prstGeom prst="ellipse">
            <a:avLst/>
          </a:prstGeom>
          <a:solidFill>
            <a:srgbClr val="7EA6C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595360" y="4782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8595360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POPshop conversion rate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458200" y="5303520"/>
            <a:ext cx="73152" cy="73152"/>
          </a:xfrm>
          <a:prstGeom prst="ellipse">
            <a:avLst/>
          </a:prstGeom>
          <a:solidFill>
            <a:srgbClr val="E3675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595360" y="5239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E36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8595360" y="5413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/ 1,000 transactions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458200" y="5760720"/>
            <a:ext cx="73152" cy="73152"/>
          </a:xfrm>
          <a:prstGeom prst="ellipse">
            <a:avLst/>
          </a:prstGeom>
          <a:solidFill>
            <a:srgbClr val="E36756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8595360" y="5696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E36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TRIGGER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8595360" y="5870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partner checkout drop-offs rise, revert to POPshop-only redemption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2743200" cy="2743200"/>
          </a:xfrm>
          <a:prstGeom prst="ellipse">
            <a:avLst/>
          </a:prstGeom>
          <a:ln w="9525">
            <a:solidFill>
              <a:srgbClr val="FF7A2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5330952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12 - STRENGTHS, GAPS &amp; COMPARISON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POP stands - and against whom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0607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16824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168249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066544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02082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the user - rewards funded by brand partners, not POP's margin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87168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244144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fixed 2% - builds trust versus gamified competitors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907792"/>
            <a:ext cx="64008" cy="64008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286207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redemption network - 200+ D2C brands across categories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→ FIXES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42900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342900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20440" y="3429000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0B3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34290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822192"/>
            <a:ext cx="64008" cy="64008"/>
          </a:xfrm>
          <a:prstGeom prst="ellipse">
            <a:avLst/>
          </a:prstGeom>
          <a:solidFill>
            <a:srgbClr val="E3675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3773147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requires app-switching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056611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Enable instant checkout-level redemption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425696"/>
            <a:ext cx="64008" cy="64008"/>
          </a:xfrm>
          <a:prstGeom prst="ellipse">
            <a:avLst/>
          </a:prstGeom>
          <a:solidFill>
            <a:srgbClr val="E3675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4376651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 mechanic on coins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660115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threshold-based &amp; personalized nudges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029200"/>
            <a:ext cx="64008" cy="64008"/>
          </a:xfrm>
          <a:prstGeom prst="ellipse">
            <a:avLst/>
          </a:prstGeom>
          <a:solidFill>
            <a:srgbClr val="E3675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4980155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Bank-linking may be the highest-friction onboarding step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5263619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Streamline with account-aggregator/pre-fill flows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81160" y="1682496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81160" y="168249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011680"/>
          <a:ext cx="502920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Coin-based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funding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Brand-funded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Brand-funded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Redemption 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7A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app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In-wallet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In-wallet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B7B5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31"/>
          <p:cNvSpPr txBox="1"/>
          <p:nvPr/>
        </p:nvSpPr>
        <p:spPr>
          <a:xfrm>
            <a:off x="653796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positioning based on publicly known reward mechanics - not a verified feature audit.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035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(Strengths):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 UPI company profile</a:t>
            </a: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50" i="1" u="sng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Inc42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ln w="9525">
            <a:solidFill>
              <a:srgbClr val="FF7A29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13 - PM VERDICT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reward model is differentiated. Redemption is the opportunity.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4630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7E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8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FF7A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46304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783080"/>
          <a:ext cx="6035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65760" y="5989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self-scored series (POP UPI only) across 6 dimensions, scale 0–10. Illustrative teardown scorecard - not a published audit.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8288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POP's brand-funded rewards model appears differentiated from gamified UPI competitors, based on public information. But the product experience likely has a real gap: users earn coins instantly at the payment moment, then have to consciously re-engage in a separate flow to spend them. That gap looks like where retention leaks.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401568"/>
            <a:ext cx="64008" cy="6400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12280" y="33375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appears differentiated - brand-funded rewards, not user-funded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3968496"/>
            <a:ext cx="64008" cy="6400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12280" y="39044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experience: fast, familiar, low friction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4535424"/>
            <a:ext cx="64008" cy="6400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12280" y="44714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experience: the weak link - an avoidable gap between earning and spending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5087389"/>
            <a:ext cx="64008" cy="64008"/>
          </a:xfrm>
          <a:prstGeom prst="ellipse">
            <a:avLst/>
          </a:prstGeom>
          <a:solidFill>
            <a:srgbClr val="FF7A2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12280" y="50383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B7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proposed bets target that exact gap, each with a measurable KPI attached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97980" y="5596128"/>
            <a:ext cx="4892040" cy="777240"/>
          </a:xfrm>
          <a:prstGeom prst="roundRect">
            <a:avLst>
              <a:gd name="adj" fmla="val 10588"/>
            </a:avLst>
          </a:prstGeom>
          <a:solidFill>
            <a:srgbClr val="1B1B1B"/>
          </a:solidFill>
          <a:ln w="12700">
            <a:solidFill>
              <a:srgbClr val="E0B34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07708" y="5477256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E0B3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07708" y="54772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0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926580" y="573328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FF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redemption loop, and POP's reward engine could compound instead of leaking.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Singh Kothariya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1973</Words>
  <Application>Microsoft Office PowerPoint</Application>
  <PresentationFormat>Widescreen</PresentationFormat>
  <Paragraphs>309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Singh Kothariya</cp:lastModifiedBy>
  <cp:revision>4</cp:revision>
  <dcterms:created xsi:type="dcterms:W3CDTF">2026-09-15T18:26:31Z</dcterms:created>
  <dcterms:modified xsi:type="dcterms:W3CDTF">2026-09-15T19:00:32Z</dcterms:modified>
</cp:coreProperties>
</file>